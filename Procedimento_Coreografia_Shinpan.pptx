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5049519e8d162d18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h5049519e8d162d18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5049519e8d162d18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5049519e8d162d18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5049519e8d162d18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5049519e8d162d18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7288177f1a3b0f5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7288177f1a3b0f5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5049519e8d162d18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5049519e8d162d18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7288177f1a3b0f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7288177f1a3b0f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7288177f1a3b0f5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7288177f1a3b0f5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7288177f1a3b0f5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h7288177f1a3b0f5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7288177f1a3b0f5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7288177f1a3b0f5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7288177f1a3b0f5c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h7288177f1a3b0f5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7288177f1a3b0f5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h7288177f1a3b0f5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7288177f1a3b0f5c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h7288177f1a3b0f5c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77aa3696ceb68c17_11_0)">
  <p:cSld name="Generated (h77aa3696ceb68c17_11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4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5400000">
            <a:off x="2527925" y="4344011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 rot="5400000">
            <a:off x="2059925" y="4343661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 rot="5400000">
            <a:off x="2293925" y="4346257"/>
            <a:ext cx="216000" cy="267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4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4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14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4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 sz="1800">
                <a:solidFill>
                  <a:schemeClr val="dk2"/>
                </a:solidFill>
              </a:rPr>
              <a:t>Entering the shiai-jo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1980250" y="4109125"/>
            <a:ext cx="519600" cy="180000"/>
          </a:xfrm>
          <a:prstGeom prst="wedgeEllipseCallout">
            <a:avLst>
              <a:gd fmla="val 24235" name="adj1"/>
              <a:gd fmla="val 7681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Mae!</a:t>
            </a:r>
            <a:endParaRPr sz="600"/>
          </a:p>
        </p:txBody>
      </p:sp>
      <p:sp>
        <p:nvSpPr>
          <p:cNvPr id="65" name="Google Shape;65;p14"/>
          <p:cNvSpPr/>
          <p:nvPr/>
        </p:nvSpPr>
        <p:spPr>
          <a:xfrm>
            <a:off x="2393050" y="4668025"/>
            <a:ext cx="2127000" cy="29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/>
              <a:t>8-</a:t>
            </a:r>
            <a:r>
              <a:rPr lang="pt-BR" sz="900"/>
              <a:t>10 steps</a:t>
            </a:r>
            <a:endParaRPr sz="900"/>
          </a:p>
        </p:txBody>
      </p:sp>
      <p:pic>
        <p:nvPicPr>
          <p:cNvPr descr="Top view furniture for the home. Vector background. (Fornecido por Getty Images)" id="66" name="Google Shape;66;p14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330212" y="4684776"/>
            <a:ext cx="254776" cy="26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view furniture for the home. Vector background. (Fornecido por Getty Images)" id="67" name="Google Shape;67;p14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637212" y="4684763"/>
            <a:ext cx="254776" cy="26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view furniture for the home. Vector background. (Fornecido por Getty Images)" id="68" name="Google Shape;68;p14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944212" y="4684763"/>
            <a:ext cx="254776" cy="2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799250" y="3036300"/>
            <a:ext cx="108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Always from the same side as the shinpan-in seats are located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224600" y="4437050"/>
            <a:ext cx="108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Shinpan-in seats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5648350" y="4500650"/>
            <a:ext cx="1609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Number of steps will vary according to court size (9~11 m). Do not search center by gazing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>
            <a:off x="4698000" y="4344011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>
            <a:off x="4230000" y="4343661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4464000" y="4346257"/>
            <a:ext cx="216000" cy="267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5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5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5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5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5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 sz="1800">
                <a:solidFill>
                  <a:schemeClr val="dk2"/>
                </a:solidFill>
              </a:rPr>
              <a:t>Entering the shiai-jo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546200" y="4668025"/>
            <a:ext cx="519600" cy="180000"/>
          </a:xfrm>
          <a:prstGeom prst="wedgeEllipseCallout">
            <a:avLst>
              <a:gd fmla="val -33949" name="adj1"/>
              <a:gd fmla="val -81194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Ippomae</a:t>
            </a:r>
            <a:r>
              <a:rPr lang="pt-BR" sz="600"/>
              <a:t>!</a:t>
            </a:r>
            <a:endParaRPr sz="600"/>
          </a:p>
        </p:txBody>
      </p:sp>
      <p:sp>
        <p:nvSpPr>
          <p:cNvPr id="86" name="Google Shape;86;p15"/>
          <p:cNvSpPr/>
          <p:nvPr/>
        </p:nvSpPr>
        <p:spPr>
          <a:xfrm rot="-5400000">
            <a:off x="4824150" y="4119600"/>
            <a:ext cx="3600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7" name="Google Shape;87;p15"/>
          <p:cNvSpPr txBox="1"/>
          <p:nvPr/>
        </p:nvSpPr>
        <p:spPr>
          <a:xfrm>
            <a:off x="4976675" y="4011750"/>
            <a:ext cx="115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Step in with right, left, right ~1m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6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>
            <a:off x="4698000" y="3965845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>
            <a:off x="4230000" y="3965495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4464000" y="3968091"/>
            <a:ext cx="216000" cy="267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" name="Google Shape;96;p16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6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6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6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6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pt-BR" sz="1800">
                <a:solidFill>
                  <a:schemeClr val="dk2"/>
                </a:solidFill>
              </a:rPr>
              <a:t>Entering the shiai-jo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572000" y="4422025"/>
            <a:ext cx="519600" cy="180000"/>
          </a:xfrm>
          <a:prstGeom prst="wedgeEllipseCallout">
            <a:avLst>
              <a:gd fmla="val -37250" name="adj1"/>
              <a:gd fmla="val -1402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Rei</a:t>
            </a:r>
            <a:r>
              <a:rPr lang="pt-BR" sz="600"/>
              <a:t>!</a:t>
            </a:r>
            <a:endParaRPr sz="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 rot="10800000">
            <a:off x="3852000" y="1131750"/>
            <a:ext cx="1440000" cy="2880000"/>
          </a:xfrm>
          <a:prstGeom prst="trapezoid">
            <a:avLst>
              <a:gd fmla="val 33551" name="adj"/>
            </a:avLst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 rot="10800000">
            <a:off x="3852000" y="1131750"/>
            <a:ext cx="1440000" cy="2880000"/>
          </a:xfrm>
          <a:prstGeom prst="triangle">
            <a:avLst>
              <a:gd fmla="val 50000" name="adj"/>
            </a:avLst>
          </a:prstGeom>
          <a:solidFill>
            <a:srgbClr val="C9DAF8"/>
          </a:solidFill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7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>
            <a:off x="4230000" y="3964873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>
            <a:off x="4698000" y="3965223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4464000" y="3966946"/>
            <a:ext cx="216000" cy="267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7"/>
          <p:cNvCxnSpPr/>
          <p:nvPr/>
        </p:nvCxnSpPr>
        <p:spPr>
          <a:xfrm rot="10800000">
            <a:off x="4940800" y="3997575"/>
            <a:ext cx="2100" cy="36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13" name="Google Shape;113;p17"/>
          <p:cNvSpPr txBox="1"/>
          <p:nvPr/>
        </p:nvSpPr>
        <p:spPr>
          <a:xfrm>
            <a:off x="4940800" y="4040925"/>
            <a:ext cx="60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aprox. 1 m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14" name="Google Shape;114;p17"/>
          <p:cNvCxnSpPr/>
          <p:nvPr/>
        </p:nvCxnSpPr>
        <p:spPr>
          <a:xfrm rot="10800000">
            <a:off x="4572007" y="762154"/>
            <a:ext cx="2100" cy="36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15" name="Google Shape;115;p17"/>
          <p:cNvSpPr txBox="1"/>
          <p:nvPr/>
        </p:nvSpPr>
        <p:spPr>
          <a:xfrm>
            <a:off x="4572007" y="805504"/>
            <a:ext cx="60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aprox. 1 m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147950" y="2519700"/>
            <a:ext cx="88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2. Fukushin must walk within the </a:t>
            </a:r>
            <a:r>
              <a:rPr i="1" lang="pt-BR" sz="700">
                <a:solidFill>
                  <a:schemeClr val="dk2"/>
                </a:solidFill>
              </a:rPr>
              <a:t>kaishisen</a:t>
            </a:r>
            <a:r>
              <a:rPr lang="pt-BR" sz="700">
                <a:solidFill>
                  <a:schemeClr val="dk2"/>
                </a:solidFill>
              </a:rPr>
              <a:t> in straight line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3729900" y="4371750"/>
            <a:ext cx="168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1. </a:t>
            </a:r>
            <a:r>
              <a:rPr lang="pt-BR" sz="700">
                <a:solidFill>
                  <a:schemeClr val="dk2"/>
                </a:solidFill>
              </a:rPr>
              <a:t>Considering a mean shoulder width of 0,50 m and </a:t>
            </a:r>
            <a:r>
              <a:rPr lang="pt-BR" sz="700">
                <a:solidFill>
                  <a:schemeClr val="dk2"/>
                </a:solidFill>
              </a:rPr>
              <a:t>shoulder</a:t>
            </a:r>
            <a:r>
              <a:rPr lang="pt-BR" sz="700">
                <a:solidFill>
                  <a:schemeClr val="dk2"/>
                </a:solidFill>
              </a:rPr>
              <a:t>-to-shoulder distance of 0,15 m, the shorter base of the trapezoid is 1,30 m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5292000" y="775350"/>
            <a:ext cx="1088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3. This results in a larger base of the trapezoid of ~4 m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7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7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7"/>
          <p:cNvSpPr/>
          <p:nvPr/>
        </p:nvSpPr>
        <p:spPr>
          <a:xfrm rot="10800000">
            <a:off x="222850" y="1218450"/>
            <a:ext cx="360000" cy="720000"/>
          </a:xfrm>
          <a:prstGeom prst="trapezoid">
            <a:avLst>
              <a:gd fmla="val 33551" name="adj"/>
            </a:avLst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 rot="10800000">
            <a:off x="222850" y="2383050"/>
            <a:ext cx="360000" cy="720000"/>
          </a:xfrm>
          <a:prstGeom prst="triangle">
            <a:avLst>
              <a:gd fmla="val 50000" name="adj"/>
            </a:avLst>
          </a:prstGeom>
          <a:solidFill>
            <a:srgbClr val="C9DAF8"/>
          </a:solidFill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654475" y="1055100"/>
            <a:ext cx="1836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Isosceles trapezoid that determines the initial formation:</a:t>
            </a:r>
            <a:endParaRPr sz="700">
              <a:solidFill>
                <a:schemeClr val="dk2"/>
              </a:solidFill>
            </a:endParaRPr>
          </a:p>
          <a:p>
            <a:pPr indent="-130175" lvl="0" marL="18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-"/>
            </a:pPr>
            <a:r>
              <a:rPr lang="pt-BR" sz="700">
                <a:solidFill>
                  <a:schemeClr val="dk2"/>
                </a:solidFill>
              </a:rPr>
              <a:t>shorter base: mean distance of the two </a:t>
            </a:r>
            <a:r>
              <a:rPr i="1" lang="pt-BR" sz="700">
                <a:solidFill>
                  <a:schemeClr val="dk2"/>
                </a:solidFill>
              </a:rPr>
              <a:t>fukushin </a:t>
            </a:r>
            <a:r>
              <a:rPr lang="pt-BR" sz="700">
                <a:solidFill>
                  <a:schemeClr val="dk2"/>
                </a:solidFill>
              </a:rPr>
              <a:t>in </a:t>
            </a:r>
            <a:r>
              <a:rPr i="1" lang="pt-BR" sz="700">
                <a:solidFill>
                  <a:schemeClr val="dk2"/>
                </a:solidFill>
              </a:rPr>
              <a:t>shinpan-in</a:t>
            </a:r>
            <a:r>
              <a:rPr lang="pt-BR" sz="700">
                <a:solidFill>
                  <a:schemeClr val="dk2"/>
                </a:solidFill>
              </a:rPr>
              <a:t> lin-up</a:t>
            </a:r>
            <a:endParaRPr sz="700">
              <a:solidFill>
                <a:schemeClr val="dk2"/>
              </a:solidFill>
            </a:endParaRPr>
          </a:p>
          <a:p>
            <a:pPr indent="-130175" lvl="0" marL="18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-"/>
            </a:pPr>
            <a:r>
              <a:rPr lang="pt-BR" sz="700">
                <a:solidFill>
                  <a:schemeClr val="dk2"/>
                </a:solidFill>
              </a:rPr>
              <a:t>legs: the path the </a:t>
            </a:r>
            <a:r>
              <a:rPr i="1" lang="pt-BR" sz="700">
                <a:solidFill>
                  <a:schemeClr val="dk2"/>
                </a:solidFill>
              </a:rPr>
              <a:t>fukushin </a:t>
            </a:r>
            <a:r>
              <a:rPr lang="pt-BR" sz="700">
                <a:solidFill>
                  <a:schemeClr val="dk2"/>
                </a:solidFill>
              </a:rPr>
              <a:t>must walk in straight line within the </a:t>
            </a:r>
            <a:r>
              <a:rPr i="1" lang="pt-BR" sz="700">
                <a:solidFill>
                  <a:schemeClr val="dk2"/>
                </a:solidFill>
              </a:rPr>
              <a:t>kaishisen </a:t>
            </a:r>
            <a:r>
              <a:rPr lang="pt-BR" sz="700">
                <a:solidFill>
                  <a:schemeClr val="dk2"/>
                </a:solidFill>
              </a:rPr>
              <a:t>to form the </a:t>
            </a:r>
            <a:r>
              <a:rPr i="1" lang="pt-BR" sz="700">
                <a:solidFill>
                  <a:schemeClr val="dk2"/>
                </a:solidFill>
              </a:rPr>
              <a:t>Shinpan-in</a:t>
            </a:r>
            <a:r>
              <a:rPr lang="pt-BR" sz="700">
                <a:solidFill>
                  <a:schemeClr val="dk2"/>
                </a:solidFill>
              </a:rPr>
              <a:t> starting locations</a:t>
            </a:r>
            <a:endParaRPr sz="700">
              <a:solidFill>
                <a:schemeClr val="dk2"/>
              </a:solidFill>
            </a:endParaRPr>
          </a:p>
          <a:p>
            <a:pPr indent="-130175" lvl="0" marL="18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-"/>
            </a:pPr>
            <a:r>
              <a:rPr lang="pt-BR" sz="700">
                <a:solidFill>
                  <a:schemeClr val="dk2"/>
                </a:solidFill>
              </a:rPr>
              <a:t>larger base: the resultant distance between </a:t>
            </a:r>
            <a:r>
              <a:rPr i="1" lang="pt-BR" sz="700">
                <a:solidFill>
                  <a:schemeClr val="dk2"/>
                </a:solidFill>
              </a:rPr>
              <a:t>fukushin </a:t>
            </a:r>
            <a:r>
              <a:rPr lang="pt-BR" sz="700">
                <a:solidFill>
                  <a:schemeClr val="dk2"/>
                </a:solidFill>
              </a:rPr>
              <a:t>after formation of this geometrical relationship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654475" y="2219700"/>
            <a:ext cx="1836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Isosceles triangle that must be constantly kept between the three shinpan during movement:</a:t>
            </a:r>
            <a:endParaRPr sz="700">
              <a:solidFill>
                <a:schemeClr val="dk2"/>
              </a:solidFill>
            </a:endParaRPr>
          </a:p>
          <a:p>
            <a:pPr indent="-130175" lvl="0" marL="18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-"/>
            </a:pPr>
            <a:r>
              <a:rPr lang="pt-BR" sz="700">
                <a:solidFill>
                  <a:schemeClr val="dk2"/>
                </a:solidFill>
              </a:rPr>
              <a:t>vertex: mainly occupied by shushin (may change in transitions)</a:t>
            </a:r>
            <a:endParaRPr sz="700">
              <a:solidFill>
                <a:schemeClr val="dk2"/>
              </a:solidFill>
            </a:endParaRPr>
          </a:p>
          <a:p>
            <a:pPr indent="-130175" lvl="0" marL="18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-"/>
            </a:pPr>
            <a:r>
              <a:rPr lang="pt-BR" sz="700">
                <a:solidFill>
                  <a:schemeClr val="dk2"/>
                </a:solidFill>
              </a:rPr>
              <a:t>sides: the path the shinpan must walk in rotation</a:t>
            </a:r>
            <a:endParaRPr sz="700">
              <a:solidFill>
                <a:schemeClr val="dk2"/>
              </a:solidFill>
            </a:endParaRPr>
          </a:p>
          <a:p>
            <a:pPr indent="-130175" lvl="0" marL="18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-"/>
            </a:pPr>
            <a:r>
              <a:rPr lang="pt-BR" sz="700">
                <a:solidFill>
                  <a:schemeClr val="dk2"/>
                </a:solidFill>
              </a:rPr>
              <a:t>base: same as the trapezoid’s larger base</a:t>
            </a:r>
            <a:endParaRPr sz="700">
              <a:solidFill>
                <a:schemeClr val="dk2"/>
              </a:solidFill>
            </a:endParaRPr>
          </a:p>
          <a:p>
            <a:pPr indent="-130175" lvl="0" marL="1800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-"/>
            </a:pPr>
            <a:r>
              <a:rPr lang="pt-BR" sz="700">
                <a:solidFill>
                  <a:schemeClr val="dk2"/>
                </a:solidFill>
              </a:rPr>
              <a:t>median/bisector: orthogonal to the axis between competitors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pt-BR" sz="1800">
                <a:solidFill>
                  <a:schemeClr val="dk2"/>
                </a:solidFill>
              </a:rPr>
              <a:t>Taking the Standard Formation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17"/>
          <p:cNvSpPr/>
          <p:nvPr/>
        </p:nvSpPr>
        <p:spPr>
          <a:xfrm rot="-4863578">
            <a:off x="4643976" y="2499617"/>
            <a:ext cx="720048" cy="14426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29" name="Google Shape;129;p17"/>
          <p:cNvSpPr/>
          <p:nvPr/>
        </p:nvSpPr>
        <p:spPr>
          <a:xfrm flipH="1" rot="4863578">
            <a:off x="3779976" y="2499617"/>
            <a:ext cx="720048" cy="14426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oad (Fornecido por Getty Images)" id="134" name="Google Shape;134;p18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476402" y="717700"/>
            <a:ext cx="658074" cy="658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oad (Fornecido por Getty Images)" id="135" name="Google Shape;135;p18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flipH="1">
            <a:off x="5024627" y="717700"/>
            <a:ext cx="658074" cy="6580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 rot="10800000">
            <a:off x="3852000" y="1131750"/>
            <a:ext cx="1440000" cy="2880000"/>
          </a:xfrm>
          <a:prstGeom prst="trapezoid">
            <a:avLst>
              <a:gd fmla="val 33551" name="adj"/>
            </a:avLst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18" title="shinpan_3.png"/>
          <p:cNvPicPr preferRelativeResize="0"/>
          <p:nvPr/>
        </p:nvPicPr>
        <p:blipFill rotWithShape="1">
          <a:blip r:embed="rId4">
            <a:alphaModFix amt="50000"/>
          </a:blip>
          <a:srcRect b="0" l="120" r="110" t="0"/>
          <a:stretch/>
        </p:blipFill>
        <p:spPr>
          <a:xfrm>
            <a:off x="4230000" y="3964873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 title="shinpan_4.png"/>
          <p:cNvPicPr preferRelativeResize="0"/>
          <p:nvPr/>
        </p:nvPicPr>
        <p:blipFill rotWithShape="1">
          <a:blip r:embed="rId5">
            <a:alphaModFix amt="50000"/>
          </a:blip>
          <a:srcRect b="0" l="120" r="130" t="0"/>
          <a:stretch/>
        </p:blipFill>
        <p:spPr>
          <a:xfrm>
            <a:off x="4698000" y="3965223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title="shinpan_5.png"/>
          <p:cNvPicPr preferRelativeResize="0"/>
          <p:nvPr/>
        </p:nvPicPr>
        <p:blipFill rotWithShape="1">
          <a:blip r:embed="rId6">
            <a:alphaModFix/>
          </a:blip>
          <a:srcRect b="70" l="0" r="0" t="70"/>
          <a:stretch/>
        </p:blipFill>
        <p:spPr>
          <a:xfrm>
            <a:off x="4464000" y="3966946"/>
            <a:ext cx="21600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4680000" y="384875"/>
            <a:ext cx="108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Always turn inward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42" name="Google Shape;142;p18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8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18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8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8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2"/>
            </a:pPr>
            <a:r>
              <a:rPr lang="pt-BR" sz="1800">
                <a:solidFill>
                  <a:schemeClr val="dk2"/>
                </a:solidFill>
              </a:rPr>
              <a:t>Taking the Standard Formation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18"/>
          <p:cNvSpPr/>
          <p:nvPr/>
        </p:nvSpPr>
        <p:spPr>
          <a:xfrm rot="-4863578">
            <a:off x="4643976" y="2499617"/>
            <a:ext cx="720048" cy="14426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8" name="Google Shape;148;p18"/>
          <p:cNvSpPr/>
          <p:nvPr/>
        </p:nvSpPr>
        <p:spPr>
          <a:xfrm flipH="1" rot="4863578">
            <a:off x="3779976" y="2499617"/>
            <a:ext cx="720048" cy="14426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149" name="Google Shape;149;p18" title="shinpan_3.png"/>
          <p:cNvPicPr preferRelativeResize="0"/>
          <p:nvPr/>
        </p:nvPicPr>
        <p:blipFill rotWithShape="1">
          <a:blip r:embed="rId4">
            <a:alphaModFix/>
          </a:blip>
          <a:srcRect b="0" l="120" r="110" t="0"/>
          <a:stretch/>
        </p:blipFill>
        <p:spPr>
          <a:xfrm rot="9109191">
            <a:off x="3697450" y="910672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title="shinpan_4.png"/>
          <p:cNvPicPr preferRelativeResize="0"/>
          <p:nvPr/>
        </p:nvPicPr>
        <p:blipFill rotWithShape="1">
          <a:blip r:embed="rId5">
            <a:alphaModFix/>
          </a:blip>
          <a:srcRect b="0" l="120" r="130" t="0"/>
          <a:stretch/>
        </p:blipFill>
        <p:spPr>
          <a:xfrm rot="-9035192">
            <a:off x="5245674" y="910673"/>
            <a:ext cx="216000" cy="272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 rot="10800000">
            <a:off x="3852000" y="1131750"/>
            <a:ext cx="1440000" cy="2880000"/>
          </a:xfrm>
          <a:prstGeom prst="trapezoid">
            <a:avLst>
              <a:gd fmla="val 33551" name="adj"/>
            </a:avLst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 rot="10800000">
            <a:off x="3852000" y="1131750"/>
            <a:ext cx="1440000" cy="28800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19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9109191">
            <a:off x="3697450" y="910672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 rot="-9035192">
            <a:off x="5245674" y="910673"/>
            <a:ext cx="216000" cy="272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4464000" y="3966946"/>
            <a:ext cx="21600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192775" y="2263950"/>
            <a:ext cx="10800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2. Walk in straight line from initial position to destiny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(i.e. the line is inner than the </a:t>
            </a:r>
            <a:r>
              <a:rPr lang="pt-BR" sz="700">
                <a:solidFill>
                  <a:schemeClr val="dk2"/>
                </a:solidFill>
              </a:rPr>
              <a:t>walk path</a:t>
            </a:r>
            <a:r>
              <a:rPr lang="pt-BR" sz="700">
                <a:solidFill>
                  <a:schemeClr val="dk2"/>
                </a:solidFill>
              </a:rPr>
              <a:t> for initial formation, in red dashed line)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62" name="Google Shape;162;p19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19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9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" name="Google Shape;165;p19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9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3"/>
            </a:pPr>
            <a:r>
              <a:rPr lang="pt-BR" sz="1800">
                <a:solidFill>
                  <a:schemeClr val="dk2"/>
                </a:solidFill>
              </a:rPr>
              <a:t>Shinpan-in Rotation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7" name="Google Shape;167;p19"/>
          <p:cNvSpPr/>
          <p:nvPr/>
        </p:nvSpPr>
        <p:spPr>
          <a:xfrm rot="-4554550">
            <a:off x="3672039" y="2509771"/>
            <a:ext cx="2519922" cy="14435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8" name="Google Shape;168;p19"/>
          <p:cNvSpPr/>
          <p:nvPr/>
        </p:nvSpPr>
        <p:spPr>
          <a:xfrm flipH="1" rot="-6245450">
            <a:off x="2952039" y="2499571"/>
            <a:ext cx="2519922" cy="14435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69" name="Google Shape;169;p19"/>
          <p:cNvSpPr/>
          <p:nvPr/>
        </p:nvSpPr>
        <p:spPr>
          <a:xfrm flipH="1" rot="-8594">
            <a:off x="4038846" y="1056440"/>
            <a:ext cx="1080003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70" name="Google Shape;170;p19"/>
          <p:cNvSpPr txBox="1"/>
          <p:nvPr/>
        </p:nvSpPr>
        <p:spPr>
          <a:xfrm>
            <a:off x="6538725" y="792800"/>
            <a:ext cx="108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1. All shinpan hold both shinpanki in right hand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6538725" y="3648450"/>
            <a:ext cx="1080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3</a:t>
            </a:r>
            <a:r>
              <a:rPr lang="pt-BR" sz="700">
                <a:solidFill>
                  <a:schemeClr val="dk2"/>
                </a:solidFill>
              </a:rPr>
              <a:t>. All shinpan separate each shinpanki in the correspondent hand in sync.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 rot="10800000">
            <a:off x="3852000" y="1131750"/>
            <a:ext cx="1440000" cy="2880000"/>
          </a:xfrm>
          <a:prstGeom prst="trapezoid">
            <a:avLst>
              <a:gd fmla="val 33551" name="adj"/>
            </a:avLst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 rot="10800000">
            <a:off x="3852000" y="1131750"/>
            <a:ext cx="1440000" cy="28800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0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9109191">
            <a:off x="3697450" y="910672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 rot="5399989">
            <a:off x="5060450" y="992522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4464000" y="3966946"/>
            <a:ext cx="21600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304525" y="48450"/>
            <a:ext cx="2101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In case of shinpan alternation, it is usually done in this position, after acting as shushin.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The leaving shinpan-in walks to the fukushin’s position, turns directly to the entering shinpan-in and rolls up the shinpanki (white inside)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183" name="Google Shape;183;p20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0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20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3"/>
            </a:pPr>
            <a:r>
              <a:rPr lang="pt-BR" sz="1800">
                <a:solidFill>
                  <a:schemeClr val="dk2"/>
                </a:solidFill>
              </a:rPr>
              <a:t>A</a:t>
            </a:r>
            <a:r>
              <a:rPr lang="pt-BR" sz="1800">
                <a:solidFill>
                  <a:schemeClr val="dk2"/>
                </a:solidFill>
              </a:rPr>
              <a:t>lternation after Rotation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8" name="Google Shape;188;p20" title="shinpan_3.png"/>
          <p:cNvPicPr preferRelativeResize="0"/>
          <p:nvPr/>
        </p:nvPicPr>
        <p:blipFill rotWithShape="1">
          <a:blip r:embed="rId3">
            <a:alphaModFix amt="45000"/>
          </a:blip>
          <a:srcRect b="0" l="120" r="110" t="0"/>
          <a:stretch/>
        </p:blipFill>
        <p:spPr>
          <a:xfrm rot="-5400010">
            <a:off x="6400075" y="992522"/>
            <a:ext cx="216000" cy="2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6584500" y="793525"/>
            <a:ext cx="21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Synchronizing</a:t>
            </a:r>
            <a:r>
              <a:rPr lang="pt-BR" sz="700">
                <a:solidFill>
                  <a:schemeClr val="dk2"/>
                </a:solidFill>
              </a:rPr>
              <a:t> the </a:t>
            </a:r>
            <a:r>
              <a:rPr lang="pt-BR" sz="700">
                <a:solidFill>
                  <a:schemeClr val="dk2"/>
                </a:solidFill>
              </a:rPr>
              <a:t>timing</a:t>
            </a:r>
            <a:r>
              <a:rPr lang="pt-BR" sz="700">
                <a:solidFill>
                  <a:schemeClr val="dk2"/>
                </a:solidFill>
              </a:rPr>
              <a:t> in which the leaving shinpan-in finishes rolling up and putting the shinpanki to rest at their right side, the entering shinpan-in steps in and both bow (rei).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90" name="Google Shape;190;p20"/>
          <p:cNvSpPr/>
          <p:nvPr/>
        </p:nvSpPr>
        <p:spPr>
          <a:xfrm rot="10800000">
            <a:off x="6012000" y="1224000"/>
            <a:ext cx="3600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191" name="Google Shape;191;p20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-5400010">
            <a:off x="5724000" y="992522"/>
            <a:ext cx="216000" cy="27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1"/>
          <p:cNvSpPr/>
          <p:nvPr/>
        </p:nvSpPr>
        <p:spPr>
          <a:xfrm rot="10800000">
            <a:off x="3852000" y="1131750"/>
            <a:ext cx="1440000" cy="2880000"/>
          </a:xfrm>
          <a:prstGeom prst="trapezoid">
            <a:avLst>
              <a:gd fmla="val 33551" name="adj"/>
            </a:avLst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 rot="10800000">
            <a:off x="3852000" y="1131750"/>
            <a:ext cx="1440000" cy="28800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1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9109191">
            <a:off x="3697450" y="910672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 rot="10799989">
            <a:off x="5180050" y="494355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4464000" y="3966946"/>
            <a:ext cx="21600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228275" y="269725"/>
            <a:ext cx="21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The leaving shinpan walks out backwards and bows (rei) to the court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203" name="Google Shape;203;p21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1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1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1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3"/>
            </a:pPr>
            <a:r>
              <a:rPr lang="pt-BR" sz="1800">
                <a:solidFill>
                  <a:schemeClr val="dk2"/>
                </a:solidFill>
              </a:rPr>
              <a:t>Alternation after Rotation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8" name="Google Shape;208;p21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-9108016">
            <a:off x="5242686" y="909683"/>
            <a:ext cx="216000" cy="27216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6584500" y="793525"/>
            <a:ext cx="210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The entering shinpan takes their position and unrolls the shinpanki</a:t>
            </a:r>
            <a:r>
              <a:rPr lang="pt-BR" sz="700">
                <a:solidFill>
                  <a:schemeClr val="dk2"/>
                </a:solidFill>
              </a:rPr>
              <a:t>.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All shinpan separate each shinpanki in the correspondent hand in sync.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10" name="Google Shape;210;p21"/>
          <p:cNvSpPr/>
          <p:nvPr/>
        </p:nvSpPr>
        <p:spPr>
          <a:xfrm rot="10800000">
            <a:off x="5335925" y="1224000"/>
            <a:ext cx="3600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11" name="Google Shape;211;p21" title="shinpan_3.png"/>
          <p:cNvPicPr preferRelativeResize="0"/>
          <p:nvPr/>
        </p:nvPicPr>
        <p:blipFill rotWithShape="1">
          <a:blip r:embed="rId3">
            <a:alphaModFix amt="50000"/>
          </a:blip>
          <a:srcRect b="0" l="120" r="110" t="0"/>
          <a:stretch/>
        </p:blipFill>
        <p:spPr>
          <a:xfrm rot="-5400010">
            <a:off x="5724000" y="992522"/>
            <a:ext cx="216000" cy="272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 rot="10800000">
            <a:off x="3852000" y="1131750"/>
            <a:ext cx="1440000" cy="2880000"/>
          </a:xfrm>
          <a:prstGeom prst="trapezoid">
            <a:avLst>
              <a:gd fmla="val 33551" name="adj"/>
            </a:avLst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2"/>
          <p:cNvSpPr/>
          <p:nvPr/>
        </p:nvSpPr>
        <p:spPr>
          <a:xfrm rot="10800000">
            <a:off x="3852000" y="1131750"/>
            <a:ext cx="1440000" cy="2880000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rgbClr val="0000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2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-5400010">
            <a:off x="3880075" y="992522"/>
            <a:ext cx="216000" cy="27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2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 rot="5399989">
            <a:off x="5060450" y="992522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2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 rot="-5400000">
            <a:off x="4568875" y="3875471"/>
            <a:ext cx="216000" cy="267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22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2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" name="Google Shape;224;p22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2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2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4"/>
            </a:pPr>
            <a:r>
              <a:rPr lang="pt-BR" sz="1800">
                <a:solidFill>
                  <a:schemeClr val="dk2"/>
                </a:solidFill>
              </a:rPr>
              <a:t>Alternation of other shinpan-in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7" name="Google Shape;227;p22" title="shinpan_3.png"/>
          <p:cNvPicPr preferRelativeResize="0"/>
          <p:nvPr/>
        </p:nvPicPr>
        <p:blipFill rotWithShape="1">
          <a:blip r:embed="rId3">
            <a:alphaModFix amt="45000"/>
          </a:blip>
          <a:srcRect b="0" l="120" r="110" t="0"/>
          <a:stretch/>
        </p:blipFill>
        <p:spPr>
          <a:xfrm rot="-5400010">
            <a:off x="6400075" y="992522"/>
            <a:ext cx="216000" cy="2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 rot="10800000">
            <a:off x="6012000" y="1224000"/>
            <a:ext cx="3600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29" name="Google Shape;229;p22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-5400010">
            <a:off x="5724000" y="992522"/>
            <a:ext cx="216000" cy="27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2" title="shinpan_3.png"/>
          <p:cNvPicPr preferRelativeResize="0"/>
          <p:nvPr/>
        </p:nvPicPr>
        <p:blipFill rotWithShape="1">
          <a:blip r:embed="rId3">
            <a:alphaModFix amt="45000"/>
          </a:blip>
          <a:srcRect b="0" l="120" r="110" t="0"/>
          <a:stretch/>
        </p:blipFill>
        <p:spPr>
          <a:xfrm flipH="1" rot="5400010">
            <a:off x="2530680" y="1010247"/>
            <a:ext cx="216000" cy="2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/>
          <p:nvPr/>
        </p:nvSpPr>
        <p:spPr>
          <a:xfrm flipH="1" rot="10800000">
            <a:off x="2774755" y="1241725"/>
            <a:ext cx="3600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32" name="Google Shape;232;p22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flipH="1" rot="5400010">
            <a:off x="3206755" y="1010247"/>
            <a:ext cx="216000" cy="272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title="shinpan_3.png"/>
          <p:cNvPicPr preferRelativeResize="0"/>
          <p:nvPr/>
        </p:nvPicPr>
        <p:blipFill rotWithShape="1">
          <a:blip r:embed="rId3">
            <a:alphaModFix amt="45000"/>
          </a:blip>
          <a:srcRect b="0" l="120" r="110" t="0"/>
          <a:stretch/>
        </p:blipFill>
        <p:spPr>
          <a:xfrm rot="-10">
            <a:off x="4107786" y="4368205"/>
            <a:ext cx="216000" cy="272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/>
          <p:nvPr/>
        </p:nvSpPr>
        <p:spPr>
          <a:xfrm rot="-5400000">
            <a:off x="3868239" y="4116060"/>
            <a:ext cx="360000" cy="14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35" name="Google Shape;235;p22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5399990">
            <a:off x="4107774" y="3873330"/>
            <a:ext cx="216000" cy="272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view furniture for the home. Vector background. (Fornecido por Getty Images)" id="236" name="Google Shape;236;p22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330212" y="4684776"/>
            <a:ext cx="254776" cy="26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view furniture for the home. Vector background. (Fornecido por Getty Images)" id="237" name="Google Shape;237;p22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637212" y="4684763"/>
            <a:ext cx="254776" cy="26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view furniture for the home. Vector background. (Fornecido por Getty Images)" id="238" name="Google Shape;238;p22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944212" y="4684763"/>
            <a:ext cx="254776" cy="2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938800" y="3497750"/>
            <a:ext cx="152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In case of Fukushin, they enter from </a:t>
            </a:r>
            <a:r>
              <a:rPr lang="pt-BR" sz="700">
                <a:solidFill>
                  <a:schemeClr val="dk2"/>
                </a:solidFill>
              </a:rPr>
              <a:t>the</a:t>
            </a:r>
            <a:r>
              <a:rPr lang="pt-BR" sz="700">
                <a:solidFill>
                  <a:schemeClr val="dk2"/>
                </a:solidFill>
              </a:rPr>
              <a:t> sides.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In case of Shushin, from the front, but always from the same side as Shinpan-in seats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224600" y="4437050"/>
            <a:ext cx="108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Shinpan-in seats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6679400" y="3227800"/>
            <a:ext cx="21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The leaving shinpan walks out backwards and bows (rei) to the court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3"/>
          <p:cNvSpPr/>
          <p:nvPr/>
        </p:nvSpPr>
        <p:spPr>
          <a:xfrm rot="10800000">
            <a:off x="3852000" y="1131750"/>
            <a:ext cx="1440000" cy="2880000"/>
          </a:xfrm>
          <a:prstGeom prst="trapezoid">
            <a:avLst>
              <a:gd fmla="val 33551" name="adj"/>
            </a:avLst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3" title="shinpan_5.png"/>
          <p:cNvPicPr preferRelativeResize="0"/>
          <p:nvPr/>
        </p:nvPicPr>
        <p:blipFill rotWithShape="1">
          <a:blip r:embed="rId3">
            <a:alphaModFix/>
          </a:blip>
          <a:srcRect b="70" l="0" r="0" t="70"/>
          <a:stretch/>
        </p:blipFill>
        <p:spPr>
          <a:xfrm>
            <a:off x="4464000" y="3966946"/>
            <a:ext cx="21600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5147950" y="2519700"/>
            <a:ext cx="1034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2. Fukushin must walk within the </a:t>
            </a:r>
            <a:r>
              <a:rPr i="1" lang="pt-BR" sz="700">
                <a:solidFill>
                  <a:schemeClr val="dk2"/>
                </a:solidFill>
              </a:rPr>
              <a:t>kaishisen</a:t>
            </a:r>
            <a:r>
              <a:rPr lang="pt-BR" sz="700">
                <a:solidFill>
                  <a:schemeClr val="dk2"/>
                </a:solidFill>
              </a:rPr>
              <a:t> in straight line (same line as when the initial formation) 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6522550" y="799000"/>
            <a:ext cx="1088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1</a:t>
            </a:r>
            <a:r>
              <a:rPr lang="pt-BR" sz="700">
                <a:solidFill>
                  <a:schemeClr val="dk2"/>
                </a:solidFill>
              </a:rPr>
              <a:t>. All shinpan roll-up the shinpanki together and hold in the right hand at body side</a:t>
            </a:r>
            <a:endParaRPr sz="700">
              <a:solidFill>
                <a:schemeClr val="dk2"/>
              </a:solidFill>
            </a:endParaRPr>
          </a:p>
        </p:txBody>
      </p:sp>
      <p:cxnSp>
        <p:nvCxnSpPr>
          <p:cNvPr id="251" name="Google Shape;251;p23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3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3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3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3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5"/>
            </a:pPr>
            <a:r>
              <a:rPr lang="pt-BR" sz="1800">
                <a:solidFill>
                  <a:schemeClr val="dk2"/>
                </a:solidFill>
              </a:rPr>
              <a:t>Leaving the shiai-jo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6" name="Google Shape;256;p23"/>
          <p:cNvSpPr/>
          <p:nvPr/>
        </p:nvSpPr>
        <p:spPr>
          <a:xfrm rot="5936422">
            <a:off x="4643976" y="2499617"/>
            <a:ext cx="720048" cy="14426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57" name="Google Shape;257;p23"/>
          <p:cNvSpPr/>
          <p:nvPr/>
        </p:nvSpPr>
        <p:spPr>
          <a:xfrm flipH="1" rot="-5936422">
            <a:off x="3779976" y="2499617"/>
            <a:ext cx="720048" cy="14426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58" name="Google Shape;258;p23" title="shinpan_3.png"/>
          <p:cNvPicPr preferRelativeResize="0"/>
          <p:nvPr/>
        </p:nvPicPr>
        <p:blipFill rotWithShape="1">
          <a:blip r:embed="rId4">
            <a:alphaModFix/>
          </a:blip>
          <a:srcRect b="0" l="120" r="110" t="0"/>
          <a:stretch/>
        </p:blipFill>
        <p:spPr>
          <a:xfrm rot="9109191">
            <a:off x="3697450" y="910672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title="shinpan_3.png"/>
          <p:cNvPicPr preferRelativeResize="0"/>
          <p:nvPr/>
        </p:nvPicPr>
        <p:blipFill rotWithShape="1">
          <a:blip r:embed="rId4">
            <a:alphaModFix/>
          </a:blip>
          <a:srcRect b="0" l="120" r="110" t="0"/>
          <a:stretch/>
        </p:blipFill>
        <p:spPr>
          <a:xfrm rot="-9108016">
            <a:off x="5242686" y="909683"/>
            <a:ext cx="216000" cy="272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load (Fornecido por Getty Images)" id="264" name="Google Shape;264;p24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flipH="1" rot="-7979998">
            <a:off x="4074770" y="3856520"/>
            <a:ext cx="526461" cy="5264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oad (Fornecido por Getty Images)" id="265" name="Google Shape;265;p24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7980021">
            <a:off x="4542772" y="3856522"/>
            <a:ext cx="526457" cy="526457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"/>
          <p:cNvSpPr/>
          <p:nvPr/>
        </p:nvSpPr>
        <p:spPr>
          <a:xfrm rot="10800000">
            <a:off x="3852000" y="1131750"/>
            <a:ext cx="1440000" cy="2880000"/>
          </a:xfrm>
          <a:prstGeom prst="trapezoid">
            <a:avLst>
              <a:gd fmla="val 33551" name="adj"/>
            </a:avLst>
          </a:prstGeom>
          <a:noFill/>
          <a:ln cap="flat" cmpd="sng" w="1905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24" title="shinpan_3.png"/>
          <p:cNvPicPr preferRelativeResize="0"/>
          <p:nvPr/>
        </p:nvPicPr>
        <p:blipFill rotWithShape="1">
          <a:blip r:embed="rId4">
            <a:alphaModFix/>
          </a:blip>
          <a:srcRect b="0" l="120" r="110" t="0"/>
          <a:stretch/>
        </p:blipFill>
        <p:spPr>
          <a:xfrm>
            <a:off x="4230000" y="3964873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title="shinpan_4.png"/>
          <p:cNvPicPr preferRelativeResize="0"/>
          <p:nvPr/>
        </p:nvPicPr>
        <p:blipFill rotWithShape="1">
          <a:blip r:embed="rId5">
            <a:alphaModFix/>
          </a:blip>
          <a:srcRect b="0" l="120" r="130" t="0"/>
          <a:stretch/>
        </p:blipFill>
        <p:spPr>
          <a:xfrm>
            <a:off x="4698000" y="3965223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4" title="shinpan_5.png"/>
          <p:cNvPicPr preferRelativeResize="0"/>
          <p:nvPr/>
        </p:nvPicPr>
        <p:blipFill rotWithShape="1">
          <a:blip r:embed="rId6">
            <a:alphaModFix/>
          </a:blip>
          <a:srcRect b="70" l="0" r="0" t="70"/>
          <a:stretch/>
        </p:blipFill>
        <p:spPr>
          <a:xfrm>
            <a:off x="4464000" y="3966946"/>
            <a:ext cx="216000" cy="267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24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24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4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4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24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5"/>
            </a:pPr>
            <a:r>
              <a:rPr lang="pt-BR" sz="1800">
                <a:solidFill>
                  <a:schemeClr val="dk2"/>
                </a:solidFill>
              </a:rPr>
              <a:t>Leaving the shiai-jo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6" name="Google Shape;276;p24"/>
          <p:cNvSpPr/>
          <p:nvPr/>
        </p:nvSpPr>
        <p:spPr>
          <a:xfrm rot="5936422">
            <a:off x="4643976" y="2499617"/>
            <a:ext cx="720048" cy="14426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77" name="Google Shape;277;p24"/>
          <p:cNvSpPr/>
          <p:nvPr/>
        </p:nvSpPr>
        <p:spPr>
          <a:xfrm flipH="1" rot="-5936422">
            <a:off x="3779976" y="2499617"/>
            <a:ext cx="720048" cy="14426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pic>
        <p:nvPicPr>
          <p:cNvPr id="278" name="Google Shape;278;p24" title="shinpan_3.png"/>
          <p:cNvPicPr preferRelativeResize="0"/>
          <p:nvPr/>
        </p:nvPicPr>
        <p:blipFill rotWithShape="1">
          <a:blip r:embed="rId4">
            <a:alphaModFix amt="50000"/>
          </a:blip>
          <a:srcRect b="0" l="120" r="110" t="0"/>
          <a:stretch/>
        </p:blipFill>
        <p:spPr>
          <a:xfrm rot="9109191">
            <a:off x="3697450" y="910672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title="shinpan_3.png"/>
          <p:cNvPicPr preferRelativeResize="0"/>
          <p:nvPr/>
        </p:nvPicPr>
        <p:blipFill rotWithShape="1">
          <a:blip r:embed="rId4">
            <a:alphaModFix amt="50000"/>
          </a:blip>
          <a:srcRect b="0" l="120" r="110" t="0"/>
          <a:stretch/>
        </p:blipFill>
        <p:spPr>
          <a:xfrm rot="-9108016">
            <a:off x="5242686" y="909683"/>
            <a:ext cx="216000" cy="27216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4531950" y="4491775"/>
            <a:ext cx="1088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Always turn inward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5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>
            <a:off x="4698000" y="3965845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>
            <a:off x="4230000" y="3965495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5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>
            <a:off x="4464000" y="3968091"/>
            <a:ext cx="216000" cy="267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9" name="Google Shape;289;p25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5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5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5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25"/>
          <p:cNvSpPr/>
          <p:nvPr/>
        </p:nvSpPr>
        <p:spPr>
          <a:xfrm>
            <a:off x="4572000" y="4422025"/>
            <a:ext cx="519600" cy="180000"/>
          </a:xfrm>
          <a:prstGeom prst="wedgeEllipseCallout">
            <a:avLst>
              <a:gd fmla="val -37250" name="adj1"/>
              <a:gd fmla="val -1402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Rei!</a:t>
            </a:r>
            <a:endParaRPr sz="600"/>
          </a:p>
        </p:txBody>
      </p:sp>
      <p:sp>
        <p:nvSpPr>
          <p:cNvPr id="294" name="Google Shape;294;p25"/>
          <p:cNvSpPr txBox="1"/>
          <p:nvPr/>
        </p:nvSpPr>
        <p:spPr>
          <a:xfrm>
            <a:off x="590400" y="259775"/>
            <a:ext cx="422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5"/>
            </a:pPr>
            <a:r>
              <a:rPr lang="pt-BR" sz="1800">
                <a:solidFill>
                  <a:schemeClr val="dk2"/>
                </a:solidFill>
              </a:rPr>
              <a:t>Leaving the shiai-jo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4680000" y="4816325"/>
            <a:ext cx="702600" cy="180000"/>
          </a:xfrm>
          <a:prstGeom prst="wedgeEllipseCallout">
            <a:avLst>
              <a:gd fmla="val -37250" name="adj1"/>
              <a:gd fmla="val -1402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"/>
              <a:t>Hidari/migi muke</a:t>
            </a:r>
            <a:endParaRPr sz="500"/>
          </a:p>
        </p:txBody>
      </p:sp>
      <p:pic>
        <p:nvPicPr>
          <p:cNvPr descr="Top view furniture for the home. Vector background. (Fornecido por Getty Images)" id="296" name="Google Shape;296;p25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330212" y="4684776"/>
            <a:ext cx="254776" cy="26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view furniture for the home. Vector background. (Fornecido por Getty Images)" id="297" name="Google Shape;297;p25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637212" y="4684763"/>
            <a:ext cx="254776" cy="26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view furniture for the home. Vector background. (Fornecido por Getty Images)" id="298" name="Google Shape;298;p25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944212" y="4684763"/>
            <a:ext cx="254776" cy="2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5"/>
          <p:cNvSpPr txBox="1"/>
          <p:nvPr/>
        </p:nvSpPr>
        <p:spPr>
          <a:xfrm>
            <a:off x="224600" y="4437050"/>
            <a:ext cx="108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Shinpan-in seats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5632625" y="4422025"/>
            <a:ext cx="108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“Hidari” or “Migi” depending on where the shinpan-in seat are located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6"/>
          <p:cNvSpPr/>
          <p:nvPr/>
        </p:nvSpPr>
        <p:spPr>
          <a:xfrm>
            <a:off x="2772000" y="771750"/>
            <a:ext cx="3600000" cy="3600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26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-5400000">
            <a:off x="4698000" y="3965845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6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 rot="-5400000">
            <a:off x="4230000" y="3965495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 rot="-5400000">
            <a:off x="4464000" y="3968091"/>
            <a:ext cx="216000" cy="2678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9" name="Google Shape;309;p26"/>
          <p:cNvCxnSpPr/>
          <p:nvPr/>
        </p:nvCxnSpPr>
        <p:spPr>
          <a:xfrm>
            <a:off x="50742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6"/>
          <p:cNvCxnSpPr/>
          <p:nvPr/>
        </p:nvCxnSpPr>
        <p:spPr>
          <a:xfrm>
            <a:off x="4068000" y="2481750"/>
            <a:ext cx="3600" cy="180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6"/>
          <p:cNvCxnSpPr/>
          <p:nvPr/>
        </p:nvCxnSpPr>
        <p:spPr>
          <a:xfrm rot="2700000">
            <a:off x="45702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26"/>
          <p:cNvCxnSpPr/>
          <p:nvPr/>
        </p:nvCxnSpPr>
        <p:spPr>
          <a:xfrm flipH="1" rot="-2700000">
            <a:off x="4572092" y="2499828"/>
            <a:ext cx="3394" cy="143826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26"/>
          <p:cNvSpPr/>
          <p:nvPr/>
        </p:nvSpPr>
        <p:spPr>
          <a:xfrm>
            <a:off x="4572000" y="4422025"/>
            <a:ext cx="519600" cy="180000"/>
          </a:xfrm>
          <a:prstGeom prst="wedgeEllipseCallout">
            <a:avLst>
              <a:gd fmla="val -37250" name="adj1"/>
              <a:gd fmla="val -140222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Mae</a:t>
            </a:r>
            <a:r>
              <a:rPr lang="pt-BR" sz="600"/>
              <a:t>!</a:t>
            </a:r>
            <a:endParaRPr sz="600"/>
          </a:p>
        </p:txBody>
      </p:sp>
      <p:sp>
        <p:nvSpPr>
          <p:cNvPr id="314" name="Google Shape;314;p26"/>
          <p:cNvSpPr txBox="1"/>
          <p:nvPr/>
        </p:nvSpPr>
        <p:spPr>
          <a:xfrm>
            <a:off x="590400" y="259775"/>
            <a:ext cx="561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 startAt="5"/>
            </a:pPr>
            <a:r>
              <a:rPr lang="pt-BR" sz="1800">
                <a:solidFill>
                  <a:schemeClr val="dk2"/>
                </a:solidFill>
              </a:rPr>
              <a:t>Leaving the shiai-jo (with group alternation)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5" name="Google Shape;315;p26" title="shinpan_3.png"/>
          <p:cNvPicPr preferRelativeResize="0"/>
          <p:nvPr/>
        </p:nvPicPr>
        <p:blipFill rotWithShape="1">
          <a:blip r:embed="rId3">
            <a:alphaModFix/>
          </a:blip>
          <a:srcRect b="0" l="120" r="110" t="0"/>
          <a:stretch/>
        </p:blipFill>
        <p:spPr>
          <a:xfrm rot="5400000">
            <a:off x="2527925" y="4344011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title="shinpan_4.png"/>
          <p:cNvPicPr preferRelativeResize="0"/>
          <p:nvPr/>
        </p:nvPicPr>
        <p:blipFill rotWithShape="1">
          <a:blip r:embed="rId4">
            <a:alphaModFix/>
          </a:blip>
          <a:srcRect b="0" l="120" r="130" t="0"/>
          <a:stretch/>
        </p:blipFill>
        <p:spPr>
          <a:xfrm rot="5400000">
            <a:off x="2059925" y="4343661"/>
            <a:ext cx="216000" cy="27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title="shinpan_5.png"/>
          <p:cNvPicPr preferRelativeResize="0"/>
          <p:nvPr/>
        </p:nvPicPr>
        <p:blipFill rotWithShape="1">
          <a:blip r:embed="rId5">
            <a:alphaModFix/>
          </a:blip>
          <a:srcRect b="70" l="0" r="0" t="70"/>
          <a:stretch/>
        </p:blipFill>
        <p:spPr>
          <a:xfrm rot="5400000">
            <a:off x="2293925" y="4346257"/>
            <a:ext cx="216000" cy="26784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/>
          <p:nvPr/>
        </p:nvSpPr>
        <p:spPr>
          <a:xfrm>
            <a:off x="1980250" y="4109125"/>
            <a:ext cx="519600" cy="180000"/>
          </a:xfrm>
          <a:prstGeom prst="wedgeEllipseCallout">
            <a:avLst>
              <a:gd fmla="val 24235" name="adj1"/>
              <a:gd fmla="val 76819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Mae!</a:t>
            </a:r>
            <a:endParaRPr sz="600"/>
          </a:p>
        </p:txBody>
      </p:sp>
      <p:pic>
        <p:nvPicPr>
          <p:cNvPr descr="Top view furniture for the home. Vector background. (Fornecido por Getty Images)" id="319" name="Google Shape;319;p26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330212" y="4684776"/>
            <a:ext cx="254776" cy="26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view furniture for the home. Vector background. (Fornecido por Getty Images)" id="320" name="Google Shape;320;p26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637212" y="4684763"/>
            <a:ext cx="254776" cy="26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op view furniture for the home. Vector background. (Fornecido por Getty Images)" id="321" name="Google Shape;321;p26"/>
          <p:cNvPicPr preferRelativeResize="0"/>
          <p:nvPr/>
        </p:nvPicPr>
        <p:blipFill rotWithShape="1">
          <a:blip r:embed="rId6">
            <a:alphaModFix/>
          </a:blip>
          <a:srcRect b="29921" l="12820" r="72185" t="54445"/>
          <a:stretch/>
        </p:blipFill>
        <p:spPr>
          <a:xfrm rot="5400000">
            <a:off x="944212" y="4684763"/>
            <a:ext cx="254776" cy="2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/>
        </p:nvSpPr>
        <p:spPr>
          <a:xfrm>
            <a:off x="224600" y="4437050"/>
            <a:ext cx="108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Shinpan-in seats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2967850" y="4470750"/>
            <a:ext cx="108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2"/>
                </a:solidFill>
              </a:rPr>
              <a:t>Start walking in sync</a:t>
            </a:r>
            <a:endParaRPr sz="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